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Libre Baskerville"/>
      <p:regular r:id="rId13"/>
    </p:embeddedFont>
    <p:embeddedFont>
      <p:font typeface="Libre Baskerville"/>
      <p:regular r:id="rId14"/>
    </p:embeddedFont>
    <p:embeddedFont>
      <p:font typeface="Libre Baskerville"/>
      <p:regular r:id="rId15"/>
    </p:embeddedFont>
    <p:embeddedFont>
      <p:font typeface="Libre Baskerville"/>
      <p:regular r:id="rId16"/>
    </p:embeddedFont>
    <p:embeddedFont>
      <p:font typeface="DM Sans"/>
      <p:regular r:id="rId17"/>
    </p:embeddedFont>
    <p:embeddedFont>
      <p:font typeface="DM Sans"/>
      <p:regular r:id="rId18"/>
    </p:embeddedFont>
    <p:embeddedFont>
      <p:font typeface="DM Sans"/>
      <p:regular r:id="rId19"/>
    </p:embeddedFont>
    <p:embeddedFont>
      <p:font typeface="DM Sans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3907"/>
            <a:ext cx="126356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Milestone 5 — Model Evaluation &amp;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963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Evaluation Phase of the System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27749"/>
            <a:ext cx="13042821" cy="35957"/>
          </a:xfrm>
          <a:prstGeom prst="rect">
            <a:avLst/>
          </a:prstGeom>
          <a:solidFill>
            <a:srgbClr val="454240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30436" y="3918823"/>
            <a:ext cx="6571417" cy="2576751"/>
          </a:xfrm>
          <a:prstGeom prst="roundRect">
            <a:avLst>
              <a:gd name="adj" fmla="val 6338"/>
            </a:avLst>
          </a:prstGeom>
          <a:solidFill>
            <a:srgbClr val="B88E23"/>
          </a:solidFill>
          <a:ln/>
        </p:spPr>
      </p:sp>
      <p:sp>
        <p:nvSpPr>
          <p:cNvPr id="6" name="Text 4"/>
          <p:cNvSpPr/>
          <p:nvPr/>
        </p:nvSpPr>
        <p:spPr>
          <a:xfrm>
            <a:off x="857250" y="41456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4726781"/>
            <a:ext cx="611778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Mallesh Mayara — 21f2001118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Mayank Dode — 22f1000781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Karthik Ganesh — 21f2000775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Ayush Verma — 21f3000500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122896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milestone presents a structured evaluation of our system's performance across validation tasks. We examine prediction consistency, scenario coverage, and output reliability — culminating in actionable insights drawn from error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7235" y="849154"/>
            <a:ext cx="1305878" cy="401360"/>
          </a:xfrm>
          <a:prstGeom prst="roundRect">
            <a:avLst>
              <a:gd name="adj" fmla="val 17634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1180" y="919877"/>
            <a:ext cx="103798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MILESTONE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7235" y="1328737"/>
            <a:ext cx="6317933" cy="658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Objective of Evaluation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37235" y="2280285"/>
            <a:ext cx="13155930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phase focuses on rigorously assessing how well the system performs across a range of validation tasks and input conditions.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37235" y="2825234"/>
            <a:ext cx="6480215" cy="2179796"/>
          </a:xfrm>
          <a:prstGeom prst="roundRect">
            <a:avLst>
              <a:gd name="adj" fmla="val 4059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0095" y="2848094"/>
            <a:ext cx="6434495" cy="631865"/>
          </a:xfrm>
          <a:prstGeom prst="roundRect">
            <a:avLst>
              <a:gd name="adj" fmla="val 9660"/>
            </a:avLst>
          </a:prstGeom>
          <a:solidFill>
            <a:srgbClr val="F7EDD4"/>
          </a:solidFill>
          <a:ln/>
        </p:spPr>
      </p:sp>
      <p:sp>
        <p:nvSpPr>
          <p:cNvPr id="8" name="Text 6"/>
          <p:cNvSpPr/>
          <p:nvPr/>
        </p:nvSpPr>
        <p:spPr>
          <a:xfrm>
            <a:off x="3819406" y="2962751"/>
            <a:ext cx="315873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970717" y="3675459"/>
            <a:ext cx="3187660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 Validation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970717" y="4121706"/>
            <a:ext cx="6013252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Evaluate system outputs against validation tasks to measure overall task completion quality.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12950" y="2825234"/>
            <a:ext cx="6480215" cy="2179796"/>
          </a:xfrm>
          <a:prstGeom prst="roundRect">
            <a:avLst>
              <a:gd name="adj" fmla="val 4059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35810" y="2848094"/>
            <a:ext cx="6434495" cy="631865"/>
          </a:xfrm>
          <a:prstGeom prst="roundRect">
            <a:avLst>
              <a:gd name="adj" fmla="val 9660"/>
            </a:avLst>
          </a:prstGeom>
          <a:solidFill>
            <a:srgbClr val="F7EDD4"/>
          </a:solidFill>
          <a:ln/>
        </p:spPr>
      </p:sp>
      <p:sp>
        <p:nvSpPr>
          <p:cNvPr id="13" name="Text 11"/>
          <p:cNvSpPr/>
          <p:nvPr/>
        </p:nvSpPr>
        <p:spPr>
          <a:xfrm>
            <a:off x="10495121" y="2962751"/>
            <a:ext cx="315873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450" dirty="0"/>
          </a:p>
        </p:txBody>
      </p:sp>
      <p:sp>
        <p:nvSpPr>
          <p:cNvPr id="14" name="Text 12"/>
          <p:cNvSpPr/>
          <p:nvPr/>
        </p:nvSpPr>
        <p:spPr>
          <a:xfrm>
            <a:off x="7646432" y="3675459"/>
            <a:ext cx="3115866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Prediction Consistency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7646432" y="4121706"/>
            <a:ext cx="6013252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whether the system produces stable, repeatable predictions under similar input conditions.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37235" y="5200531"/>
            <a:ext cx="6480215" cy="2179796"/>
          </a:xfrm>
          <a:prstGeom prst="roundRect">
            <a:avLst>
              <a:gd name="adj" fmla="val 4059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0095" y="5223391"/>
            <a:ext cx="6434495" cy="631865"/>
          </a:xfrm>
          <a:prstGeom prst="roundRect">
            <a:avLst>
              <a:gd name="adj" fmla="val 9660"/>
            </a:avLst>
          </a:prstGeom>
          <a:solidFill>
            <a:srgbClr val="F7EDD4"/>
          </a:solidFill>
          <a:ln/>
        </p:spPr>
      </p:sp>
      <p:sp>
        <p:nvSpPr>
          <p:cNvPr id="18" name="Text 16"/>
          <p:cNvSpPr/>
          <p:nvPr/>
        </p:nvSpPr>
        <p:spPr>
          <a:xfrm>
            <a:off x="3819406" y="5338048"/>
            <a:ext cx="315873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450" dirty="0"/>
          </a:p>
        </p:txBody>
      </p:sp>
      <p:sp>
        <p:nvSpPr>
          <p:cNvPr id="19" name="Text 17"/>
          <p:cNvSpPr/>
          <p:nvPr/>
        </p:nvSpPr>
        <p:spPr>
          <a:xfrm>
            <a:off x="970717" y="6050756"/>
            <a:ext cx="263294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Scenario Coverage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970717" y="6497002"/>
            <a:ext cx="6013252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Study behavior across varied scenario types, from routine cases to edge conditions.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12950" y="5200531"/>
            <a:ext cx="6480215" cy="2179796"/>
          </a:xfrm>
          <a:prstGeom prst="roundRect">
            <a:avLst>
              <a:gd name="adj" fmla="val 4059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35810" y="5223391"/>
            <a:ext cx="6434495" cy="631865"/>
          </a:xfrm>
          <a:prstGeom prst="roundRect">
            <a:avLst>
              <a:gd name="adj" fmla="val 9660"/>
            </a:avLst>
          </a:prstGeom>
          <a:solidFill>
            <a:srgbClr val="F7EDD4"/>
          </a:solidFill>
          <a:ln/>
        </p:spPr>
      </p:sp>
      <p:sp>
        <p:nvSpPr>
          <p:cNvPr id="23" name="Text 21"/>
          <p:cNvSpPr/>
          <p:nvPr/>
        </p:nvSpPr>
        <p:spPr>
          <a:xfrm>
            <a:off x="10495121" y="5338048"/>
            <a:ext cx="315873" cy="39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450" dirty="0"/>
          </a:p>
        </p:txBody>
      </p:sp>
      <p:sp>
        <p:nvSpPr>
          <p:cNvPr id="24" name="Text 22"/>
          <p:cNvSpPr/>
          <p:nvPr/>
        </p:nvSpPr>
        <p:spPr>
          <a:xfrm>
            <a:off x="7646432" y="6050756"/>
            <a:ext cx="263294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Output Reliability</a:t>
            </a:r>
            <a:endParaRPr lang="en-US" sz="2050" dirty="0"/>
          </a:p>
        </p:txBody>
      </p:sp>
      <p:sp>
        <p:nvSpPr>
          <p:cNvPr id="25" name="Text 23"/>
          <p:cNvSpPr/>
          <p:nvPr/>
        </p:nvSpPr>
        <p:spPr>
          <a:xfrm>
            <a:off x="7646432" y="6497002"/>
            <a:ext cx="6013252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 the trustworthiness and correctness of system-generated responses at scale.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4980" y="463629"/>
            <a:ext cx="1166336" cy="288727"/>
          </a:xfrm>
          <a:prstGeom prst="roundRect">
            <a:avLst>
              <a:gd name="adj" fmla="val 18789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49398" y="519589"/>
            <a:ext cx="957501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44980" y="798314"/>
            <a:ext cx="5111115" cy="504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Evaluation Methodology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744980" y="1475065"/>
            <a:ext cx="11140440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Evaluation was structured as a classification task, systematically comparing system outputs against ground truth across a curated set of scenarios.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6352" y="1825228"/>
            <a:ext cx="10137696" cy="5369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49927" y="5662868"/>
            <a:ext cx="2506555" cy="313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Ground Truth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3471683" y="6065309"/>
            <a:ext cx="2684799" cy="428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Align outputs with labeled reference answers.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491341" y="2212178"/>
            <a:ext cx="2684799" cy="62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Classification Framing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2491341" y="2927938"/>
            <a:ext cx="2684799" cy="428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Cast validation as binary or multi-class.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507073" y="2212178"/>
            <a:ext cx="2684799" cy="62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Scenario Diversification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507073" y="2927938"/>
            <a:ext cx="2684799" cy="428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straightforward, ambiguous, complex cases.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453994" y="5663042"/>
            <a:ext cx="2684799" cy="62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Outcome Aggregation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453994" y="6378803"/>
            <a:ext cx="2684799" cy="428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Consolidate results to reveal gaps.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744980" y="7324011"/>
            <a:ext cx="1114044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structuring evaluation as a classification task, the methodology enabled precise measurement of prediction accuracy and exposed systematic gaps across scenario types.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75" y="623173"/>
            <a:ext cx="1000125" cy="441127"/>
          </a:xfrm>
          <a:prstGeom prst="roundRect">
            <a:avLst>
              <a:gd name="adj" fmla="val 17261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6665" y="698778"/>
            <a:ext cx="71294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075" y="1154787"/>
            <a:ext cx="6738342" cy="708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 Overview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075" y="2202418"/>
            <a:ext cx="6408896" cy="2588895"/>
          </a:xfrm>
          <a:prstGeom prst="roundRect">
            <a:avLst>
              <a:gd name="adj" fmla="val 367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271" y="2436614"/>
            <a:ext cx="679847" cy="679847"/>
          </a:xfrm>
          <a:prstGeom prst="roundRect">
            <a:avLst>
              <a:gd name="adj" fmla="val 13448740"/>
            </a:avLst>
          </a:prstGeom>
          <a:solidFill>
            <a:srgbClr val="B88E2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4199" y="2623542"/>
            <a:ext cx="305872" cy="3058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7271" y="3342799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Structured Cases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7271" y="3832503"/>
            <a:ext cx="5940504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performance on well-defined, clearly formatted inputs with unambiguous expectations.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309" y="2202418"/>
            <a:ext cx="6409015" cy="2588895"/>
          </a:xfrm>
          <a:prstGeom prst="roundRect">
            <a:avLst>
              <a:gd name="adj" fmla="val 367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62505" y="2436614"/>
            <a:ext cx="679847" cy="679847"/>
          </a:xfrm>
          <a:prstGeom prst="roundRect">
            <a:avLst>
              <a:gd name="adj" fmla="val 13448740"/>
            </a:avLst>
          </a:prstGeom>
          <a:solidFill>
            <a:srgbClr val="B88E2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9433" y="2623542"/>
            <a:ext cx="305872" cy="3058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62505" y="3342799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Format Variations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662505" y="3832503"/>
            <a:ext cx="5940623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Effective handling of paraphrased, reformatted, and stylistically varied input expressions.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075" y="5017651"/>
            <a:ext cx="6408896" cy="2588895"/>
          </a:xfrm>
          <a:prstGeom prst="roundRect">
            <a:avLst>
              <a:gd name="adj" fmla="val 367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27271" y="5251847"/>
            <a:ext cx="679847" cy="679847"/>
          </a:xfrm>
          <a:prstGeom prst="roundRect">
            <a:avLst>
              <a:gd name="adj" fmla="val 13448740"/>
            </a:avLst>
          </a:prstGeom>
          <a:solidFill>
            <a:srgbClr val="B88E2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4199" y="5438775"/>
            <a:ext cx="305872" cy="3058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7271" y="6158032"/>
            <a:ext cx="2928461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Consistent Behavior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1027271" y="6647736"/>
            <a:ext cx="5940504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Predictable, stable outputs sustained across the majority of evaluated scenarios.</a:t>
            </a:r>
            <a:endParaRPr lang="en-US" sz="1750" dirty="0"/>
          </a:p>
        </p:txBody>
      </p:sp>
      <p:sp>
        <p:nvSpPr>
          <p:cNvPr id="20" name="Shape 15"/>
          <p:cNvSpPr/>
          <p:nvPr/>
        </p:nvSpPr>
        <p:spPr>
          <a:xfrm>
            <a:off x="7428309" y="5017651"/>
            <a:ext cx="6409015" cy="2588895"/>
          </a:xfrm>
          <a:prstGeom prst="roundRect">
            <a:avLst>
              <a:gd name="adj" fmla="val 367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662505" y="5251847"/>
            <a:ext cx="679847" cy="679847"/>
          </a:xfrm>
          <a:prstGeom prst="roundRect">
            <a:avLst>
              <a:gd name="adj" fmla="val 13448740"/>
            </a:avLst>
          </a:prstGeom>
          <a:solidFill>
            <a:srgbClr val="B88E2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9433" y="5438775"/>
            <a:ext cx="305872" cy="3058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62505" y="6158032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Balanced Coverage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7662505" y="6647736"/>
            <a:ext cx="5940623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Uniformly competent performance maintained across diverse input categories and task types.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44166"/>
            <a:ext cx="1161455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019770"/>
            <a:ext cx="87403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DIVE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763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Evaluation Insights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525316"/>
            <a:ext cx="3090505" cy="3165277"/>
          </a:xfrm>
          <a:prstGeom prst="roundRect">
            <a:avLst>
              <a:gd name="adj" fmla="val 3083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084" y="2782610"/>
            <a:ext cx="2575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Scenario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273028"/>
            <a:ext cx="257591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Evaluation performed across different scenario types to analyze system behavior.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111109" y="2525316"/>
            <a:ext cx="3090624" cy="3165277"/>
          </a:xfrm>
          <a:prstGeom prst="roundRect">
            <a:avLst>
              <a:gd name="adj" fmla="val 3082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8403" y="2782610"/>
            <a:ext cx="25760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Ablation Experiments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68403" y="3627358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Ablation experiments conducted by varying system parameters.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2525316"/>
            <a:ext cx="3090624" cy="3165277"/>
          </a:xfrm>
          <a:prstGeom prst="roundRect">
            <a:avLst>
              <a:gd name="adj" fmla="val 3082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5842" y="2782610"/>
            <a:ext cx="257603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Retrieval Parameter Tuning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85842" y="3981688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Top-K variation studied to observe impact on output quality.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745986" y="2525316"/>
            <a:ext cx="3090624" cy="3165277"/>
          </a:xfrm>
          <a:prstGeom prst="roundRect">
            <a:avLst>
              <a:gd name="adj" fmla="val 3082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03280" y="2782610"/>
            <a:ext cx="257603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Confidence Threshold Analysis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003280" y="3981688"/>
            <a:ext cx="257603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Confidence threshold tuning analyzed to understand prediction behavior.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917406"/>
            <a:ext cx="13042821" cy="1367909"/>
          </a:xfrm>
          <a:prstGeom prst="roundRect">
            <a:avLst>
              <a:gd name="adj" fmla="val 696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084" y="6174700"/>
            <a:ext cx="36648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Configuration Trade-offs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084" y="6665119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Comparative analysis across configurations to study trade-offs.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257" y="723543"/>
            <a:ext cx="981432" cy="388977"/>
          </a:xfrm>
          <a:prstGeom prst="roundRect">
            <a:avLst>
              <a:gd name="adj" fmla="val 17752"/>
            </a:avLst>
          </a:prstGeom>
          <a:noFill/>
          <a:ln w="7620">
            <a:solidFill>
              <a:srgbClr val="B88E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106" y="792718"/>
            <a:ext cx="719733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9257" y="1186934"/>
            <a:ext cx="5487233" cy="642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Error Understanding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9257" y="2108240"/>
            <a:ext cx="13191887" cy="62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Errors were not treated as failures in isolation — they were systematically grouped and analyzed to extract meaningful signals about system decision behavior.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9257" y="2944178"/>
            <a:ext cx="6502837" cy="1516023"/>
          </a:xfrm>
          <a:prstGeom prst="roundRect">
            <a:avLst>
              <a:gd name="adj" fmla="val 7238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6397" y="2944178"/>
            <a:ext cx="91440" cy="1516023"/>
          </a:xfrm>
          <a:prstGeom prst="roundRect">
            <a:avLst>
              <a:gd name="adj" fmla="val 94397"/>
            </a:avLst>
          </a:prstGeom>
          <a:solidFill>
            <a:srgbClr val="B88E23"/>
          </a:solidFill>
          <a:ln/>
        </p:spPr>
      </p:sp>
      <p:sp>
        <p:nvSpPr>
          <p:cNvPr id="8" name="Text 6"/>
          <p:cNvSpPr/>
          <p:nvPr/>
        </p:nvSpPr>
        <p:spPr>
          <a:xfrm>
            <a:off x="1016198" y="3172539"/>
            <a:ext cx="2724150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Error Categorization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16198" y="3605332"/>
            <a:ext cx="5977533" cy="62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Errors grouped into meaningful categories based on shared structural and contextual patterns.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08188" y="2944178"/>
            <a:ext cx="6502956" cy="1516023"/>
          </a:xfrm>
          <a:prstGeom prst="roundRect">
            <a:avLst>
              <a:gd name="adj" fmla="val 7238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85328" y="2944178"/>
            <a:ext cx="91440" cy="1516023"/>
          </a:xfrm>
          <a:prstGeom prst="roundRect">
            <a:avLst>
              <a:gd name="adj" fmla="val 94397"/>
            </a:avLst>
          </a:prstGeom>
          <a:solidFill>
            <a:srgbClr val="B88E23"/>
          </a:solidFill>
          <a:ln/>
        </p:spPr>
      </p:sp>
      <p:sp>
        <p:nvSpPr>
          <p:cNvPr id="12" name="Text 10"/>
          <p:cNvSpPr/>
          <p:nvPr/>
        </p:nvSpPr>
        <p:spPr>
          <a:xfrm>
            <a:off x="7705130" y="3172539"/>
            <a:ext cx="281832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Pattern Identification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05130" y="3605332"/>
            <a:ext cx="5977652" cy="62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Recurring error signatures identified across prediction cases, pointing to systemic tendencies.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9257" y="4646295"/>
            <a:ext cx="6502837" cy="1516023"/>
          </a:xfrm>
          <a:prstGeom prst="roundRect">
            <a:avLst>
              <a:gd name="adj" fmla="val 7238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6397" y="4646295"/>
            <a:ext cx="91440" cy="1516023"/>
          </a:xfrm>
          <a:prstGeom prst="roundRect">
            <a:avLst>
              <a:gd name="adj" fmla="val 94397"/>
            </a:avLst>
          </a:prstGeom>
          <a:solidFill>
            <a:srgbClr val="B88E23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198" y="4874657"/>
            <a:ext cx="3552111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Decision Behavior Analysis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16198" y="5307449"/>
            <a:ext cx="5977533" cy="62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Investigation focused on understanding </a:t>
            </a:r>
            <a:pPr algn="l" indent="0" marL="0">
              <a:lnSpc>
                <a:spcPts val="2450"/>
              </a:lnSpc>
              <a:buNone/>
            </a:pPr>
            <a:r>
              <a:rPr lang="en-US" sz="160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system erred, not merely </a:t>
            </a:r>
            <a:pPr algn="l" indent="0" marL="0">
              <a:lnSpc>
                <a:spcPts val="2450"/>
              </a:lnSpc>
              <a:buNone/>
            </a:pPr>
            <a:r>
              <a:rPr lang="en-US" sz="160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it did.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08188" y="4646295"/>
            <a:ext cx="6502956" cy="1516023"/>
          </a:xfrm>
          <a:prstGeom prst="roundRect">
            <a:avLst>
              <a:gd name="adj" fmla="val 7238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85328" y="4646295"/>
            <a:ext cx="91440" cy="1516023"/>
          </a:xfrm>
          <a:prstGeom prst="roundRect">
            <a:avLst>
              <a:gd name="adj" fmla="val 94397"/>
            </a:avLst>
          </a:prstGeom>
          <a:solidFill>
            <a:srgbClr val="B88E23"/>
          </a:solidFill>
          <a:ln/>
        </p:spPr>
      </p:sp>
      <p:sp>
        <p:nvSpPr>
          <p:cNvPr id="20" name="Text 18"/>
          <p:cNvSpPr/>
          <p:nvPr/>
        </p:nvSpPr>
        <p:spPr>
          <a:xfrm>
            <a:off x="7705130" y="4874657"/>
            <a:ext cx="3645337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 Interpretation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05130" y="5307449"/>
            <a:ext cx="5977652" cy="62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Observations translated into interpretable insights that inform future model refinement.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9257" y="6371749"/>
            <a:ext cx="13191887" cy="1134189"/>
          </a:xfrm>
          <a:prstGeom prst="roundRect">
            <a:avLst>
              <a:gd name="adj" fmla="val 7610"/>
            </a:avLst>
          </a:prstGeom>
          <a:solidFill>
            <a:srgbClr val="F3E4BF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758" y="6677263"/>
            <a:ext cx="256818" cy="20550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87078" y="6609159"/>
            <a:ext cx="12318563" cy="62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Takeaway: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Error understanding transforms raw failure data into a roadmap for targeted, evidence-driven model improvement.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2026-04-05T08:36:39Z</dcterms:created>
  <dcterms:modified xsi:type="dcterms:W3CDTF">2026-04-05T08:36:39Z</dcterms:modified>
</cp:coreProperties>
</file>